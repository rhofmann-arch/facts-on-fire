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4PHA6WN0BMDYTlyvSQiq/L9VE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277d2d80d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d277d2d80d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d277d2d80d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11480" y="73152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Calibri"/>
              <a:buNone/>
            </a:pPr>
            <a:r>
              <a:rPr b="0" i="0" lang="en-US" sz="6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🔥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645920" y="685800"/>
            <a:ext cx="7132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Math Fact Fluency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645920" y="169164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FF9000"/>
                </a:solidFill>
                <a:latin typeface="Calibri"/>
                <a:ea typeface="Calibri"/>
                <a:cs typeface="Calibri"/>
                <a:sym typeface="Calibri"/>
              </a:rPr>
              <a:t>From Probes to Practice: A Teacher's Guide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645920" y="2331720"/>
            <a:ext cx="6858000" cy="36576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645920" y="246888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Daily 5–10 minute practice  ·  School-wide  ·  K–8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0" y="466344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Baymonte Christian School  ·  M.I.N.D. 2.0 Program  ·  Facts on Fire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347472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347472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TODAY'S SESSION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47472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What We'll Cover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47472" y="1453896"/>
            <a:ext cx="475488" cy="475488"/>
          </a:xfrm>
          <a:prstGeom prst="ellipse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47472" y="145389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96112" y="1472184"/>
            <a:ext cx="384048" cy="384048"/>
          </a:xfrm>
          <a:prstGeom prst="ellipse">
            <a:avLst/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896112" y="14721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371600" y="14173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Why Fluency Matters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371600" y="170992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The research case &amp; California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47472" y="2130552"/>
            <a:ext cx="475488" cy="475488"/>
          </a:xfrm>
          <a:prstGeom prst="ellipse">
            <a:avLst/>
          </a:prstGeom>
          <a:solidFill>
            <a:srgbClr val="1B4FCC"/>
          </a:solidFill>
          <a:ln cap="flat" cmpd="sng" w="12700">
            <a:solidFill>
              <a:srgbClr val="1B4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47472" y="213055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96112" y="2148840"/>
            <a:ext cx="384048" cy="384048"/>
          </a:xfrm>
          <a:prstGeom prst="ellipse">
            <a:avLst/>
          </a:prstGeom>
          <a:solidFill>
            <a:srgbClr val="EBF0FF"/>
          </a:solidFill>
          <a:ln cap="flat" cmpd="sng" w="12700">
            <a:solidFill>
              <a:srgbClr val="EB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96112" y="2148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371600" y="2093976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Baymonte Portal Overview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371600" y="238658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Probes, tracking &amp; assessment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47472" y="2807208"/>
            <a:ext cx="475488" cy="475488"/>
          </a:xfrm>
          <a:prstGeom prst="ellipse">
            <a:avLst/>
          </a:prstGeom>
          <a:solidFill>
            <a:srgbClr val="007A6E"/>
          </a:solidFill>
          <a:ln cap="flat" cmpd="sng" w="12700">
            <a:solidFill>
              <a:srgbClr val="00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47472" y="280720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96112" y="2825496"/>
            <a:ext cx="384048" cy="384048"/>
          </a:xfrm>
          <a:prstGeom prst="ellipse">
            <a:avLst/>
          </a:prstGeom>
          <a:solidFill>
            <a:srgbClr val="E6F4F2"/>
          </a:solidFill>
          <a:ln cap="flat" cmpd="sng" w="12700">
            <a:solidFill>
              <a:srgbClr val="E6F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96112" y="28254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371600" y="277063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Practice Tools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371600" y="306324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Choral, oral, target probes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47472" y="3483864"/>
            <a:ext cx="475488" cy="475488"/>
          </a:xfrm>
          <a:prstGeom prst="ellipse">
            <a:avLst/>
          </a:prstGeom>
          <a:solidFill>
            <a:srgbClr val="B87800"/>
          </a:solidFill>
          <a:ln cap="flat" cmpd="sng" w="12700">
            <a:solidFill>
              <a:srgbClr val="B8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47472" y="348386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96112" y="3502152"/>
            <a:ext cx="384048" cy="384048"/>
          </a:xfrm>
          <a:prstGeom prst="ellipse">
            <a:avLst/>
          </a:prstGeom>
          <a:solidFill>
            <a:srgbClr val="FFF8E6"/>
          </a:solidFill>
          <a:ln cap="flat" cmpd="sng" w="12700">
            <a:solidFill>
              <a:srgbClr val="FFF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896112" y="35021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🎮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371600" y="344728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Games &amp; Puzzles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371600" y="373989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Review, motivation &amp; cognitive challenge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47472" y="4160520"/>
            <a:ext cx="475488" cy="475488"/>
          </a:xfrm>
          <a:prstGeom prst="ellipse">
            <a:avLst/>
          </a:prstGeom>
          <a:solidFill>
            <a:srgbClr val="0E1117"/>
          </a:solidFill>
          <a:ln cap="flat" cmpd="sng" w="12700">
            <a:solidFill>
              <a:srgbClr val="0E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47472" y="416052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96112" y="4178808"/>
            <a:ext cx="384048" cy="384048"/>
          </a:xfrm>
          <a:prstGeom prst="ellipse">
            <a:avLst/>
          </a:prstGeom>
          <a:solidFill>
            <a:srgbClr val="E4E6EA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896112" y="41788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371600" y="4123944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Intervention Strategies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371600" y="441655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When &amp; how to dig deeper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Fluency Matters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11480" y="749808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00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9000"/>
                </a:solidFill>
                <a:latin typeface="Calibri"/>
                <a:ea typeface="Calibri"/>
                <a:cs typeface="Calibri"/>
                <a:sym typeface="Calibri"/>
              </a:rPr>
              <a:t>The numbers from California and beyond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74320" y="1298448"/>
            <a:ext cx="2743200" cy="2468880"/>
          </a:xfrm>
          <a:prstGeom prst="roundRect">
            <a:avLst>
              <a:gd fmla="val 4444" name="adj"/>
            </a:avLst>
          </a:prstGeom>
          <a:solidFill>
            <a:srgbClr val="1A1F2E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274320" y="141732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37%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11480" y="246888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CA students proficient in math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on state assessments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218688" y="1298448"/>
            <a:ext cx="2743200" cy="2468880"/>
          </a:xfrm>
          <a:prstGeom prst="roundRect">
            <a:avLst>
              <a:gd fmla="val 4444" name="adj"/>
            </a:avLst>
          </a:prstGeom>
          <a:solidFill>
            <a:srgbClr val="1A1F2E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218688" y="141732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7800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B87800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355848" y="246888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4th graders with times-table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mastery in one Monterey district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163056" y="1298448"/>
            <a:ext cx="2743200" cy="2468880"/>
          </a:xfrm>
          <a:prstGeom prst="roundRect">
            <a:avLst>
              <a:gd fmla="val 4444" name="adj"/>
            </a:avLst>
          </a:prstGeom>
          <a:solidFill>
            <a:srgbClr val="1A1F2E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163056" y="141732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63%  vs  7%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300216" y="246888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Grade-level proficiency: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0"/>
                </a:solidFill>
                <a:latin typeface="Calibri"/>
                <a:ea typeface="Calibri"/>
                <a:cs typeface="Calibri"/>
                <a:sym typeface="Calibri"/>
              </a:rPr>
              <a:t>fluent vs. non-fluent 5th graders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0" y="477316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Source: EdSource commentary, Margulies &amp; Nathwani, March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347472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347472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THE RESEARCH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47472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How Fluency Frees the Brain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47472" y="1298448"/>
            <a:ext cx="3931920" cy="3291840"/>
          </a:xfrm>
          <a:prstGeom prst="roundRect">
            <a:avLst>
              <a:gd fmla="val 3333" name="adj"/>
            </a:avLst>
          </a:prstGeom>
          <a:solidFill>
            <a:srgbClr val="FEF2F2"/>
          </a:solidFill>
          <a:ln cap="flat" cmpd="sng" w="1905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57200" y="141732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❌  Non-Fluent Student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02920" y="1920240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Stops mid-problem to figure out 7 × 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02920" y="2414016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Working memory fills up — loses track of 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02920" y="2907792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Reaches for a calculator, fingers, or fact chart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02920" y="3401568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Every fact is a separate mini-problem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02920" y="3895344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Harder to tackle fractions, percentages, rates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480560" y="1298448"/>
            <a:ext cx="4297680" cy="3291840"/>
          </a:xfrm>
          <a:prstGeom prst="roundRect">
            <a:avLst>
              <a:gd fmla="val 3333" name="adj"/>
            </a:avLst>
          </a:prstGeom>
          <a:solidFill>
            <a:srgbClr val="DCFCE7"/>
          </a:solidFill>
          <a:ln cap="flat" cmpd="sng" w="1905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572000" y="141732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 Fluent Student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617720" y="1920240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Recalls 7 × 9 = 63 instantly — no interruption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617720" y="2414016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Working memory stays free for reasoning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617720" y="2907792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Can explain thinking, connect concepts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617720" y="3401568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Tackles multi-step problems with confidence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617720" y="3895344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Better outcomes in fractions, algebra &amp; beyond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47472" y="461772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"Math facts are to math as phonics is to reading."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347472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347472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CA STANDARDS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47472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What the Standards Require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47472" y="1298448"/>
            <a:ext cx="3931920" cy="2103120"/>
          </a:xfrm>
          <a:prstGeom prst="roundRect">
            <a:avLst>
              <a:gd fmla="val 5217" name="adj"/>
            </a:avLst>
          </a:prstGeom>
          <a:solidFill>
            <a:srgbClr val="EBF0FF"/>
          </a:solidFill>
          <a:ln cap="flat" cmpd="sng" w="12700">
            <a:solidFill>
              <a:srgbClr val="EBF0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512064" y="1417320"/>
            <a:ext cx="914400" cy="329184"/>
          </a:xfrm>
          <a:prstGeom prst="roundRect">
            <a:avLst>
              <a:gd fmla="val 13889" name="adj"/>
            </a:avLst>
          </a:prstGeom>
          <a:solidFill>
            <a:srgbClr val="1B4FCC"/>
          </a:solidFill>
          <a:ln cap="flat" cmpd="sng" w="12700">
            <a:solidFill>
              <a:srgbClr val="1B4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512064" y="141732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2.OA.2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30352" y="181051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C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4FCC"/>
                </a:solidFill>
                <a:latin typeface="Calibri"/>
                <a:ea typeface="Calibri"/>
                <a:cs typeface="Calibri"/>
                <a:sym typeface="Calibri"/>
              </a:rPr>
              <a:t>End of Grade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30352" y="21945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Sums of all pairs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of one-digit numbers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30352" y="281635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Goal: Know from memory — fast &amp; accurate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599432" y="1298448"/>
            <a:ext cx="3931920" cy="2103120"/>
          </a:xfrm>
          <a:prstGeom prst="roundRect">
            <a:avLst>
              <a:gd fmla="val 5217" name="adj"/>
            </a:avLst>
          </a:prstGeom>
          <a:solidFill>
            <a:srgbClr val="E6F4F2"/>
          </a:solidFill>
          <a:ln cap="flat" cmpd="sng" w="12700">
            <a:solidFill>
              <a:srgbClr val="E6F4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764024" y="1417320"/>
            <a:ext cx="914400" cy="329184"/>
          </a:xfrm>
          <a:prstGeom prst="roundRect">
            <a:avLst>
              <a:gd fmla="val 13889" name="adj"/>
            </a:avLst>
          </a:prstGeom>
          <a:solidFill>
            <a:srgbClr val="007A6E"/>
          </a:solidFill>
          <a:ln cap="flat" cmpd="sng" w="12700">
            <a:solidFill>
              <a:srgbClr val="00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764024" y="141732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3.OA.7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782312" y="181051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6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7A6E"/>
                </a:solidFill>
                <a:latin typeface="Calibri"/>
                <a:ea typeface="Calibri"/>
                <a:cs typeface="Calibri"/>
                <a:sym typeface="Calibri"/>
              </a:rPr>
              <a:t>End of Grade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782312" y="21945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Products of all pairs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of one-digit numbers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782312" y="281635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Goal: Know from memory — fast &amp; accurate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47472" y="358444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Mastery Benchmarks (Facts on Fire / M.I.N.D. 2.0)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47472" y="3931920"/>
            <a:ext cx="8412480" cy="274320"/>
          </a:xfrm>
          <a:prstGeom prst="rect">
            <a:avLst/>
          </a:prstGeom>
          <a:solidFill>
            <a:srgbClr val="0E1117"/>
          </a:solidFill>
          <a:ln cap="flat" cmpd="sng" w="9525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347472" y="39319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553712" y="39319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Criterion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47472" y="4206240"/>
            <a:ext cx="8412480" cy="274320"/>
          </a:xfrm>
          <a:prstGeom prst="rect">
            <a:avLst/>
          </a:prstGeom>
          <a:solidFill>
            <a:srgbClr val="FAFAF7"/>
          </a:solidFill>
          <a:ln cap="flat" cmpd="sng" w="9525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347472" y="42062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Addition / Subtraction facts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53712" y="42062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100% accuracy @ 30 problems per minute (PPM)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47472" y="4480560"/>
            <a:ext cx="841248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347472" y="448056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Multiplication / Division facts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553712" y="448056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100% accuracy @ 30 PPM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47472" y="4754880"/>
            <a:ext cx="8412480" cy="274320"/>
          </a:xfrm>
          <a:prstGeom prst="rect">
            <a:avLst/>
          </a:prstGeom>
          <a:solidFill>
            <a:srgbClr val="FAFAF7"/>
          </a:solidFill>
          <a:ln cap="flat" cmpd="sng" w="9525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47472" y="47548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Multi-digit operations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53712" y="47548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100% accuracy @ 20 digits correct per minute (DCPM)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347472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FEF2F2"/>
          </a:solidFill>
          <a:ln cap="flat" cmpd="sng" w="12700">
            <a:solidFill>
              <a:srgbClr val="FE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347472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KEY PRINCIPLE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47472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Timed Tests Alone Are Not Enough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47472" y="1298448"/>
            <a:ext cx="8412480" cy="1005840"/>
          </a:xfrm>
          <a:prstGeom prst="roundRect">
            <a:avLst>
              <a:gd fmla="val 9091" name="adj"/>
            </a:avLst>
          </a:prstGeom>
          <a:solidFill>
            <a:srgbClr val="FEF2F2"/>
          </a:solidFill>
          <a:ln cap="flat" cmpd="sng" w="1905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502920" y="1371600"/>
            <a:ext cx="8138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Repeatedly giving timed probes to students who haven't yet stored facts in long-term memory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is asking them to guess repeatedly — with no feedback, and no path to improvement.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914400" y="2880360"/>
            <a:ext cx="7498080" cy="54864"/>
          </a:xfrm>
          <a:prstGeom prst="rect">
            <a:avLst/>
          </a:prstGeom>
          <a:solidFill>
            <a:srgbClr val="E4E6EA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347472" y="2487168"/>
            <a:ext cx="2633472" cy="2331720"/>
          </a:xfrm>
          <a:prstGeom prst="roundRect">
            <a:avLst>
              <a:gd fmla="val 3922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1335024" y="2578608"/>
            <a:ext cx="658368" cy="658368"/>
          </a:xfrm>
          <a:prstGeom prst="ellipse">
            <a:avLst/>
          </a:prstGeom>
          <a:solidFill>
            <a:srgbClr val="F5F5F5"/>
          </a:solidFill>
          <a:ln cap="flat" cmpd="sng" w="12700">
            <a:solidFill>
              <a:srgbClr val="1B4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1335024" y="257860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38912" y="3310128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C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FCC"/>
                </a:solidFill>
                <a:latin typeface="Calibri"/>
                <a:ea typeface="Calibri"/>
                <a:cs typeface="Calibri"/>
                <a:sym typeface="Calibri"/>
              </a:rPr>
              <a:t>Regular Timed Probes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7200" y="3803904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To assess and track mastery — not as practice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200400" y="2487168"/>
            <a:ext cx="2633472" cy="2331720"/>
          </a:xfrm>
          <a:prstGeom prst="roundRect">
            <a:avLst>
              <a:gd fmla="val 3922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187952" y="2578608"/>
            <a:ext cx="658368" cy="658368"/>
          </a:xfrm>
          <a:prstGeom prst="ellipse">
            <a:avLst/>
          </a:prstGeom>
          <a:solidFill>
            <a:srgbClr val="F5F5F5"/>
          </a:solidFill>
          <a:ln cap="flat" cmpd="sng" w="12700">
            <a:solidFill>
              <a:srgbClr val="00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187952" y="257860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291840" y="3310128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6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7A6E"/>
                </a:solidFill>
                <a:latin typeface="Calibri"/>
                <a:ea typeface="Calibri"/>
                <a:cs typeface="Calibri"/>
                <a:sym typeface="Calibri"/>
              </a:rPr>
              <a:t>Meaningful Practice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310128" y="3803904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Choral, oral, target probes, games, puzzles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053328" y="2487168"/>
            <a:ext cx="2633472" cy="2331720"/>
          </a:xfrm>
          <a:prstGeom prst="roundRect">
            <a:avLst>
              <a:gd fmla="val 3922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7040880" y="2578608"/>
            <a:ext cx="658368" cy="658368"/>
          </a:xfrm>
          <a:prstGeom prst="ellipse">
            <a:avLst/>
          </a:prstGeom>
          <a:solidFill>
            <a:srgbClr val="F5F5F5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7040880" y="257860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144768" y="3310128"/>
            <a:ext cx="2450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Targeted Intervention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163056" y="3803904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For students with storage or retrieval gaps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288036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✚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733288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✚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3886200" y="9144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Calibri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914400" y="233172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Baymonte Portal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914400" y="3127248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9000"/>
                </a:solidFill>
                <a:latin typeface="Calibri"/>
                <a:ea typeface="Calibri"/>
                <a:cs typeface="Calibri"/>
                <a:sym typeface="Calibri"/>
              </a:rPr>
              <a:t>Facts on Fire  ·  Teacher Hub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914400" y="361188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Probes  ·  Workbooks  ·  Practice Tools  ·  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347472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EBF0FF"/>
          </a:solidFill>
          <a:ln cap="flat" cmpd="sng" w="12700">
            <a:solidFill>
              <a:srgbClr val="EB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47472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C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4FCC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47472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Whole-Class Probes: Generate, Score &amp; Track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47472" y="1298448"/>
            <a:ext cx="4114800" cy="3566160"/>
          </a:xfrm>
          <a:prstGeom prst="roundRect">
            <a:avLst>
              <a:gd fmla="val 2564" name="adj"/>
            </a:avLst>
          </a:prstGeom>
          <a:solidFill>
            <a:srgbClr val="EBF0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57200" y="138988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C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4FCC"/>
                </a:solidFill>
                <a:latin typeface="Calibri"/>
                <a:ea typeface="Calibri"/>
                <a:cs typeface="Calibri"/>
                <a:sym typeface="Calibri"/>
              </a:rPr>
              <a:t>📋  Generating Probes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02920" y="1874520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1.  Open the Probe Generator on the portal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02920" y="2368296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2.  Select your skill set (e.g. Sums to 18, ×/÷ to 81)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02920" y="2862072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3.  Set number of problems &amp; time limit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02920" y="3355848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4.  Print — unique random order every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02920" y="3849624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5.  Administer weekly (1 minute is standard)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663440" y="1298448"/>
            <a:ext cx="4114800" cy="356616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773168" y="138988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📊  Scoring &amp; Tracking Mastery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800600" y="187452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Score: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989320" y="18745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Problems correct in time limit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800600" y="238658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Mastery: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989320" y="2386584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100% accuracy at target rate (e.g. 30 PPM)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800600" y="289864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Class tracker: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989320" y="289864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One row per student — spot gaps at a glance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800600" y="341071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Advancement: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989320" y="341071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Move to the next skill set when mastered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800600" y="392277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Portal tools: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989320" y="3922776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Scope &amp; Sequence Tracker, Data Portal (coming soon)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47472" y="466344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6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7A6E"/>
                </a:solidFill>
                <a:latin typeface="Calibri"/>
                <a:ea typeface="Calibri"/>
                <a:cs typeface="Calibri"/>
                <a:sym typeface="Calibri"/>
              </a:rPr>
              <a:t>💡  The probe tells you WHERE students are. Practice &amp; intervention move them forward.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347472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E6F4F2"/>
          </a:solidFill>
          <a:ln cap="flat" cmpd="sng" w="12700">
            <a:solidFill>
              <a:srgbClr val="E6F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347472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6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7A6E"/>
                </a:solidFill>
                <a:latin typeface="Calibri"/>
                <a:ea typeface="Calibri"/>
                <a:cs typeface="Calibri"/>
                <a:sym typeface="Calibri"/>
              </a:rPr>
              <a:t>PRACTICE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347472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Practice Tools: The Daily 5–10 Minutes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47472" y="1298448"/>
            <a:ext cx="2743200" cy="1664208"/>
          </a:xfrm>
          <a:prstGeom prst="roundRect">
            <a:avLst>
              <a:gd fmla="val 5495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57200" y="1426464"/>
            <a:ext cx="530352" cy="530352"/>
          </a:xfrm>
          <a:prstGeom prst="ellipse">
            <a:avLst/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457200" y="1426464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📼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1060704" y="140817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Beat the Tape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060704" y="1700784"/>
            <a:ext cx="1371600" cy="201168"/>
          </a:xfrm>
          <a:prstGeom prst="roundRect">
            <a:avLst>
              <a:gd fmla="val 18182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1060704" y="170078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Choral / Oral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38912" y="1975104"/>
            <a:ext cx="25603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Browser reads each fact aloud → class responds chorally → answer revealed. Adjustable pacing.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3227832" y="1298448"/>
            <a:ext cx="2743200" cy="1664208"/>
          </a:xfrm>
          <a:prstGeom prst="roundRect">
            <a:avLst>
              <a:gd fmla="val 5495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3337560" y="1426464"/>
            <a:ext cx="530352" cy="530352"/>
          </a:xfrm>
          <a:prstGeom prst="ellipse">
            <a:avLst/>
          </a:prstGeom>
          <a:solidFill>
            <a:srgbClr val="EBF0FF"/>
          </a:solidFill>
          <a:ln cap="flat" cmpd="sng" w="12700">
            <a:solidFill>
              <a:srgbClr val="EB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337560" y="1426464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941064" y="140817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Class Challenge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3941064" y="1700784"/>
            <a:ext cx="1371600" cy="201168"/>
          </a:xfrm>
          <a:prstGeom prst="roundRect">
            <a:avLst>
              <a:gd fmla="val 18182" name="adj"/>
            </a:avLst>
          </a:prstGeom>
          <a:solidFill>
            <a:srgbClr val="EBF0FF"/>
          </a:solidFill>
          <a:ln cap="flat" cmpd="sng" w="12700">
            <a:solidFill>
              <a:srgbClr val="EB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3941064" y="170078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C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4FCC"/>
                </a:solidFill>
                <a:latin typeface="Calibri"/>
                <a:ea typeface="Calibri"/>
                <a:cs typeface="Calibri"/>
                <a:sym typeface="Calibri"/>
              </a:rPr>
              <a:t>Oral / Smartboard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319272" y="1975104"/>
            <a:ext cx="25603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Students answer one at a time to reveal a hidden reward image square by square. Beat-the-clock option.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108192" y="1298448"/>
            <a:ext cx="2743200" cy="1664208"/>
          </a:xfrm>
          <a:prstGeom prst="roundRect">
            <a:avLst>
              <a:gd fmla="val 5495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6217920" y="1426464"/>
            <a:ext cx="530352" cy="530352"/>
          </a:xfrm>
          <a:prstGeom prst="ellipse">
            <a:avLst/>
          </a:prstGeom>
          <a:solidFill>
            <a:srgbClr val="E6F4F2"/>
          </a:solidFill>
          <a:ln cap="flat" cmpd="sng" w="12700">
            <a:solidFill>
              <a:srgbClr val="E6F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6217920" y="1426464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🔢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821424" y="140817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Choral Counting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821424" y="1700784"/>
            <a:ext cx="1371600" cy="201168"/>
          </a:xfrm>
          <a:prstGeom prst="roundRect">
            <a:avLst>
              <a:gd fmla="val 18182" name="adj"/>
            </a:avLst>
          </a:prstGeom>
          <a:solidFill>
            <a:srgbClr val="E6F4F2"/>
          </a:solidFill>
          <a:ln cap="flat" cmpd="sng" w="12700">
            <a:solidFill>
              <a:srgbClr val="E6F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821424" y="170078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6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7A6E"/>
                </a:solidFill>
                <a:latin typeface="Calibri"/>
                <a:ea typeface="Calibri"/>
                <a:cs typeface="Calibri"/>
                <a:sym typeface="Calibri"/>
              </a:rPr>
              <a:t>Skip-Counting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199632" y="1975104"/>
            <a:ext cx="25603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Animated hundreds chart with teacher-controlled pace. Builds the number sense that underlies multiplication.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347472" y="3090672"/>
            <a:ext cx="2743200" cy="1664208"/>
          </a:xfrm>
          <a:prstGeom prst="roundRect">
            <a:avLst>
              <a:gd fmla="val 5495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457200" y="3218688"/>
            <a:ext cx="530352" cy="530352"/>
          </a:xfrm>
          <a:prstGeom prst="ellipse">
            <a:avLst/>
          </a:prstGeom>
          <a:solidFill>
            <a:srgbClr val="EBF0FF"/>
          </a:solidFill>
          <a:ln cap="flat" cmpd="sng" w="12700">
            <a:solidFill>
              <a:srgbClr val="EB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457200" y="321868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🔣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060704" y="3200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Sequence Puzzles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060704" y="3493008"/>
            <a:ext cx="1371600" cy="201168"/>
          </a:xfrm>
          <a:prstGeom prst="roundRect">
            <a:avLst>
              <a:gd fmla="val 18182" name="adj"/>
            </a:avLst>
          </a:prstGeom>
          <a:solidFill>
            <a:srgbClr val="EBF0FF"/>
          </a:solidFill>
          <a:ln cap="flat" cmpd="sng" w="12700">
            <a:solidFill>
              <a:srgbClr val="EB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1060704" y="34930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C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B4FCC"/>
                </a:solidFill>
                <a:latin typeface="Calibri"/>
                <a:ea typeface="Calibri"/>
                <a:cs typeface="Calibri"/>
                <a:sym typeface="Calibri"/>
              </a:rPr>
              <a:t>Skip-Count Sequences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38912" y="3767328"/>
            <a:ext cx="25603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Two missing values in a skip-count sequence. Four difficulty levels including descending &amp; offset patterns.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3227832" y="3090672"/>
            <a:ext cx="2743200" cy="1664208"/>
          </a:xfrm>
          <a:prstGeom prst="roundRect">
            <a:avLst>
              <a:gd fmla="val 5495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3337560" y="3218688"/>
            <a:ext cx="530352" cy="530352"/>
          </a:xfrm>
          <a:prstGeom prst="ellipse">
            <a:avLst/>
          </a:prstGeom>
          <a:solidFill>
            <a:srgbClr val="FFF8E6"/>
          </a:solidFill>
          <a:ln cap="flat" cmpd="sng" w="12700">
            <a:solidFill>
              <a:srgbClr val="FFF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3337560" y="321868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3941064" y="3200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Target Probes (Workbooks)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3941064" y="3493008"/>
            <a:ext cx="1371600" cy="201168"/>
          </a:xfrm>
          <a:prstGeom prst="roundRect">
            <a:avLst>
              <a:gd fmla="val 18182" name="adj"/>
            </a:avLst>
          </a:prstGeom>
          <a:solidFill>
            <a:srgbClr val="FFF8E6"/>
          </a:solidFill>
          <a:ln cap="flat" cmpd="sng" w="12700">
            <a:solidFill>
              <a:srgbClr val="FFF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3941064" y="34930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78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87800"/>
                </a:solidFill>
                <a:latin typeface="Calibri"/>
                <a:ea typeface="Calibri"/>
                <a:cs typeface="Calibri"/>
                <a:sym typeface="Calibri"/>
              </a:rPr>
              <a:t>Written Practice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3319272" y="3767328"/>
            <a:ext cx="25603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CCC (Cover-Copy-Compare), fact families, cloze activities — targeted to specific fact sets.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108192" y="3090672"/>
            <a:ext cx="2743200" cy="1664208"/>
          </a:xfrm>
          <a:prstGeom prst="roundRect">
            <a:avLst>
              <a:gd fmla="val 5495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6217920" y="3218688"/>
            <a:ext cx="530352" cy="530352"/>
          </a:xfrm>
          <a:prstGeom prst="ellipse">
            <a:avLst/>
          </a:prstGeom>
          <a:solidFill>
            <a:srgbClr val="FFF8E6"/>
          </a:solidFill>
          <a:ln cap="flat" cmpd="sng" w="12700">
            <a:solidFill>
              <a:srgbClr val="FFF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6217920" y="321868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821424" y="3200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Four Strikes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821424" y="3493008"/>
            <a:ext cx="1371600" cy="201168"/>
          </a:xfrm>
          <a:prstGeom prst="roundRect">
            <a:avLst>
              <a:gd fmla="val 18182" name="adj"/>
            </a:avLst>
          </a:prstGeom>
          <a:solidFill>
            <a:srgbClr val="FFF8E6"/>
          </a:solidFill>
          <a:ln cap="flat" cmpd="sng" w="12700">
            <a:solidFill>
              <a:srgbClr val="FFF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6821424" y="349300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78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87800"/>
                </a:solidFill>
                <a:latin typeface="Calibri"/>
                <a:ea typeface="Calibri"/>
                <a:cs typeface="Calibri"/>
                <a:sym typeface="Calibri"/>
              </a:rPr>
              <a:t>Game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199632" y="3767328"/>
            <a:ext cx="25603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Guess digits in a hidden equation — four wrong guesses and the class is out. Works with all operations.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347472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FFF8E6"/>
          </a:solidFill>
          <a:ln cap="flat" cmpd="sng" w="12700">
            <a:solidFill>
              <a:srgbClr val="FFF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347472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78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87800"/>
                </a:solidFill>
                <a:latin typeface="Calibri"/>
                <a:ea typeface="Calibri"/>
                <a:cs typeface="Calibri"/>
                <a:sym typeface="Calibri"/>
              </a:rPr>
              <a:t>ENRICHMENT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47472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Games &amp; Puzzles: Review, Motivation &amp; Challenge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347472" y="1298448"/>
            <a:ext cx="3931920" cy="3566160"/>
          </a:xfrm>
          <a:prstGeom prst="roundRect">
            <a:avLst>
              <a:gd fmla="val 2564" name="adj"/>
            </a:avLst>
          </a:prstGeom>
          <a:solidFill>
            <a:srgbClr val="FFF8E6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457200" y="1389888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8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7800"/>
                </a:solidFill>
                <a:latin typeface="Calibri"/>
                <a:ea typeface="Calibri"/>
                <a:cs typeface="Calibri"/>
                <a:sym typeface="Calibri"/>
              </a:rPr>
              <a:t>🎮  Games — Ongoing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57200" y="177393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Best when facts are at or near mastery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502920" y="2121408"/>
            <a:ext cx="3611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Motivation through play keeps skills sharp after mastery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02920" y="2724912"/>
            <a:ext cx="3611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Four Strikes &amp; Class Challenge work well as whole-class warmups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502920" y="3328416"/>
            <a:ext cx="3611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Low cognitive overhead — games should feel easy, not effortful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502920" y="3931920"/>
            <a:ext cx="3611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Great for maintenance once a skill set is mastered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4480560" y="1298448"/>
            <a:ext cx="4297680" cy="356616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4572000" y="138988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C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4FCC"/>
                </a:solidFill>
                <a:latin typeface="Calibri"/>
                <a:ea typeface="Calibri"/>
                <a:cs typeface="Calibri"/>
                <a:sym typeface="Calibri"/>
              </a:rPr>
              <a:t>🧩  Puzzles — Cognitive Challenge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572000" y="177393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For students at or approaching mastery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617720" y="2084832"/>
            <a:ext cx="4023360" cy="621792"/>
          </a:xfrm>
          <a:prstGeom prst="roundRect">
            <a:avLst>
              <a:gd fmla="val 11765" name="adj"/>
            </a:avLst>
          </a:prstGeom>
          <a:solidFill>
            <a:srgbClr val="EBF0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4709160" y="2121408"/>
            <a:ext cx="3840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C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B4FCC"/>
                </a:solidFill>
                <a:latin typeface="Calibri"/>
                <a:ea typeface="Calibri"/>
                <a:cs typeface="Calibri"/>
                <a:sym typeface="Calibri"/>
              </a:rPr>
              <a:t>🚶 + 🍬  Walking and chewing gum at the same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4617720" y="2779776"/>
            <a:ext cx="4023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Cross-number puzzles, cryptarithms &amp; sequence puzzles add a layer of cognitive load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4617720" y="3328416"/>
            <a:ext cx="4023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Parsing puzzle structure while retrieving facts stretches students who are ready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4617720" y="3877056"/>
            <a:ext cx="4023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⚠️  NOT for students just building fluency — too much cognitive overload at once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617720" y="4425696"/>
            <a:ext cx="40233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Available on the portal: Cross-Number Puzzles, Cryptarithms, Sequence Puzzles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3886200" y="77724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Calibri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914400" y="224028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Intervention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914400" y="3063240"/>
            <a:ext cx="7315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00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9000"/>
                </a:solidFill>
                <a:latin typeface="Calibri"/>
                <a:ea typeface="Calibri"/>
                <a:cs typeface="Calibri"/>
                <a:sym typeface="Calibri"/>
              </a:rPr>
              <a:t>When a student isn't making progress with whole-class practice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914400" y="356616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4A0"/>
                </a:solidFill>
                <a:latin typeface="Calibri"/>
                <a:ea typeface="Calibri"/>
                <a:cs typeface="Calibri"/>
                <a:sym typeface="Calibri"/>
              </a:rPr>
              <a:t>Storage gaps  ·  Retrieval gaps  ·  Building on what they know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347472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347472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INTERVENTION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347472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Why Some Students Don't Respond to Practice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347472" y="1298448"/>
            <a:ext cx="8412480" cy="822960"/>
          </a:xfrm>
          <a:prstGeom prst="roundRect">
            <a:avLst>
              <a:gd fmla="val 8889" name="adj"/>
            </a:avLst>
          </a:prstGeom>
          <a:solidFill>
            <a:srgbClr val="FFF0E8"/>
          </a:solidFill>
          <a:ln cap="flat" cmpd="sng" w="12700">
            <a:solidFill>
              <a:srgbClr val="FCD9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502920" y="1371600"/>
            <a:ext cx="80924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Intervention is needed when students have difficulty storing or retrieving math facts from long-term memory — not just insufficient practice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347472" y="2267712"/>
            <a:ext cx="3931920" cy="1554480"/>
          </a:xfrm>
          <a:prstGeom prst="roundRect">
            <a:avLst>
              <a:gd fmla="val 5882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512064" y="2359152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📥  Storage Gap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512064" y="2779776"/>
            <a:ext cx="36118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The fact was never reliably stored. Repeated retrieval attempts without reference just produce incorrect or inconsistent guesses — and may actually reinforce errors.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4599432" y="2267712"/>
            <a:ext cx="3931920" cy="1554480"/>
          </a:xfrm>
          <a:prstGeom prst="roundRect">
            <a:avLst>
              <a:gd fmla="val 5882" name="adj"/>
            </a:avLst>
          </a:prstGeom>
          <a:solidFill>
            <a:srgbClr val="EBF0FF"/>
          </a:solidFill>
          <a:ln cap="flat" cmpd="sng" w="12700">
            <a:solidFill>
              <a:srgbClr val="EB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4764024" y="2359152"/>
            <a:ext cx="3611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C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4FCC"/>
                </a:solidFill>
                <a:latin typeface="Calibri"/>
                <a:ea typeface="Calibri"/>
                <a:cs typeface="Calibri"/>
                <a:sym typeface="Calibri"/>
              </a:rPr>
              <a:t>🔍  Retrieval Gap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764024" y="2779776"/>
            <a:ext cx="36118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The fact may have been stored but retrieval is slow or unreliable. Students need strategies that build retrieval pathways, not just more exposure.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347472" y="391363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Key insight: giving these students repeated timed probes on unknown facts is asking them to guess under pressure — with no feedback and no learning.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347472" y="4517136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These students need practice WITH access to the correct answer, immediate feedback, and strategies that build memory pathways.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347472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347472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INTERVENTION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347472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Intervention Strategies: A Continuum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347472" y="1298448"/>
            <a:ext cx="4114800" cy="1664208"/>
          </a:xfrm>
          <a:prstGeom prst="roundRect">
            <a:avLst>
              <a:gd fmla="val 5495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347472" y="1298448"/>
            <a:ext cx="109728" cy="1664208"/>
          </a:xfrm>
          <a:prstGeom prst="rect">
            <a:avLst/>
          </a:prstGeom>
          <a:solidFill>
            <a:srgbClr val="1B4FCC"/>
          </a:solidFill>
          <a:ln cap="flat" cmpd="sng" w="12700">
            <a:solidFill>
              <a:srgbClr val="1B4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530352" y="14081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1097280" y="1389888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Target Probes with Fact Reference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12064" y="201168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Students practice ONLY their unknown facts, with the fact available for reference. Avoids practicing errors. Cover-Copy-Compare (CCC) in the workbooks uses this approach.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663440" y="1298448"/>
            <a:ext cx="4114800" cy="1664208"/>
          </a:xfrm>
          <a:prstGeom prst="roundRect">
            <a:avLst>
              <a:gd fmla="val 5495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4663440" y="1298448"/>
            <a:ext cx="109728" cy="1664208"/>
          </a:xfrm>
          <a:prstGeom prst="rect">
            <a:avLst/>
          </a:prstGeom>
          <a:solidFill>
            <a:srgbClr val="007A6E"/>
          </a:solidFill>
          <a:ln cap="flat" cmpd="sng" w="12700">
            <a:solidFill>
              <a:srgbClr val="00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4846320" y="14081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5413248" y="1389888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Flashcards (with Adult Support)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4828032" y="201168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Immediate feedback after each response. Most effective when used by a tutor, parent, or aide — not independently. One-on-one allows correction of errors in real time </a:t>
            </a:r>
            <a:r>
              <a:rPr lang="en-US" sz="1100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and modeling of movement from a known fact to a new fact</a:t>
            </a: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347472" y="3108960"/>
            <a:ext cx="4114800" cy="1664208"/>
          </a:xfrm>
          <a:prstGeom prst="roundRect">
            <a:avLst>
              <a:gd fmla="val 5495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347472" y="3108960"/>
            <a:ext cx="109728" cy="1664208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530352" y="32186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1097280" y="3200400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TouchMath (Early Addition/Subtraction)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1097280" y="3584448"/>
            <a:ext cx="1097280" cy="182880"/>
          </a:xfrm>
          <a:prstGeom prst="roundRect">
            <a:avLst>
              <a:gd fmla="val 20000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1097280" y="358444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Bridge strategy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512064" y="3822192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Touch points on digits give students a tool for deriving sums/differences, bridging from counting strategies. Helpful short-term; long-term goal is full memorization — not ongoing derivation.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663440" y="3108960"/>
            <a:ext cx="4114800" cy="1664208"/>
          </a:xfrm>
          <a:prstGeom prst="roundRect">
            <a:avLst>
              <a:gd fmla="val 5495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4663440" y="3108960"/>
            <a:ext cx="109728" cy="1664208"/>
          </a:xfrm>
          <a:prstGeom prst="rect">
            <a:avLst/>
          </a:prstGeom>
          <a:solidFill>
            <a:srgbClr val="B87800"/>
          </a:solidFill>
          <a:ln cap="flat" cmpd="sng" w="12700">
            <a:solidFill>
              <a:srgbClr val="B8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5413248" y="3200400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Building on Known Facts (Warp &amp; Weft)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5413248" y="3584448"/>
            <a:ext cx="1097280" cy="182880"/>
          </a:xfrm>
          <a:prstGeom prst="roundRect">
            <a:avLst>
              <a:gd fmla="val 20000" name="adj"/>
            </a:avLst>
          </a:prstGeom>
          <a:solidFill>
            <a:srgbClr val="FFF8E6"/>
          </a:solidFill>
          <a:ln cap="flat" cmpd="sng" w="12700">
            <a:solidFill>
              <a:srgbClr val="FFF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5413248" y="358444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78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87800"/>
                </a:solidFill>
                <a:latin typeface="Calibri"/>
                <a:ea typeface="Calibri"/>
                <a:cs typeface="Calibri"/>
                <a:sym typeface="Calibri"/>
              </a:rPr>
              <a:t>Derivation strategy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4828032" y="3822192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Leverage what students already know. If a student knows 6×5=30, model: "6×6 is one more group of 6, so add 6 → 36." Warp &amp; Weft structures this, though students need to learn the system first.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347472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E6F4F2"/>
          </a:solidFill>
          <a:ln cap="flat" cmpd="sng" w="12700">
            <a:solidFill>
              <a:srgbClr val="E6F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347472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6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7A6E"/>
                </a:solidFill>
                <a:latin typeface="Calibri"/>
                <a:ea typeface="Calibri"/>
                <a:cs typeface="Calibri"/>
                <a:sym typeface="Calibri"/>
              </a:rPr>
              <a:t>TEACHER MODELING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347472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Modeling Strategies During Whole-Class Practice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347472" y="1298448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E6F4F2"/>
          </a:solidFill>
          <a:ln cap="flat" cmpd="sng" w="12700">
            <a:solidFill>
              <a:srgbClr val="99D6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502920" y="1371600"/>
            <a:ext cx="8092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6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7A6E"/>
                </a:solidFill>
                <a:latin typeface="Calibri"/>
                <a:ea typeface="Calibri"/>
                <a:cs typeface="Calibri"/>
                <a:sym typeface="Calibri"/>
              </a:rPr>
              <a:t>When a student is stuck, don't just give the answer — model a derivation path using a fact they already know.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347472" y="2084832"/>
            <a:ext cx="5303520" cy="256032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502920" y="217627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💬  Example: 6 × 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530352" y="265176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Teacher: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481328" y="265176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"6 times </a:t>
            </a:r>
            <a:r>
              <a:rPr lang="en-US" sz="1100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530352" y="301752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1" i="0" lang="en-US" sz="11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1481328" y="301752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"3</a:t>
            </a:r>
            <a:r>
              <a:rPr lang="en-US" sz="1100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30352" y="338328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Teacher: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481328" y="338328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sz="1100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Close. What’s 5 x 6?</a:t>
            </a: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530352" y="374904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1" i="0" lang="en-US" sz="11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1481328" y="374904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"3</a:t>
            </a:r>
            <a:r>
              <a:rPr lang="en-US" sz="1100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530352" y="411480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Teacher: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1481328" y="411480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sz="1100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So one more group of 6 is 30 + 6…</a:t>
            </a: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5852160" y="2084832"/>
            <a:ext cx="2907792" cy="2560320"/>
          </a:xfrm>
          <a:prstGeom prst="roundRect">
            <a:avLst>
              <a:gd fmla="val 3571" name="adj"/>
            </a:avLst>
          </a:prstGeom>
          <a:solidFill>
            <a:srgbClr val="FFF8E6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5989320" y="217627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8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87800"/>
                </a:solidFill>
                <a:latin typeface="Calibri"/>
                <a:ea typeface="Calibri"/>
                <a:cs typeface="Calibri"/>
                <a:sym typeface="Calibri"/>
              </a:rPr>
              <a:t>🔗  Warp &amp; Weft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5989320" y="2615184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Structured tool for building on known facts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5989320" y="3072384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Students need to learn the Warp &amp; Weft system 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5989320" y="3529584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Also model this strategy verbally during whole-class probes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5989320" y="3986784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Helps students see the relationships between fact families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347472" y="466344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6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7A6E"/>
                </a:solidFill>
                <a:latin typeface="Calibri"/>
                <a:ea typeface="Calibri"/>
                <a:cs typeface="Calibri"/>
                <a:sym typeface="Calibri"/>
              </a:rPr>
              <a:t>💡  This same strategy works during Beat the Tape, Class Challenge, and any oral practice session.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347472" y="20116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FFF0E8"/>
          </a:solidFill>
          <a:ln cap="flat" cmpd="sng" w="12700">
            <a:solidFill>
              <a:srgbClr val="FFF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347472" y="2011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347472" y="5943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The Full Picture: A Daily Rhythm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347472" y="1298448"/>
            <a:ext cx="73152" cy="749808"/>
          </a:xfrm>
          <a:prstGeom prst="rect">
            <a:avLst/>
          </a:prstGeom>
          <a:solidFill>
            <a:srgbClr val="1B4FCC"/>
          </a:solidFill>
          <a:ln cap="flat" cmpd="sng" w="12700">
            <a:solidFill>
              <a:srgbClr val="1B4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493776" y="1298448"/>
            <a:ext cx="8266176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566928" y="1435608"/>
            <a:ext cx="475488" cy="475488"/>
          </a:xfrm>
          <a:prstGeom prst="ellipse">
            <a:avLst/>
          </a:prstGeom>
          <a:solidFill>
            <a:srgbClr val="1B4FCC"/>
          </a:solidFill>
          <a:ln cap="flat" cmpd="sng" w="12700">
            <a:solidFill>
              <a:srgbClr val="1B4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566928" y="143560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1115568" y="1463040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1645920" y="138988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Weekly Timed Probe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1645920" y="1700784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Assess mastery — not practice. Record scores on the class tracker.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347472" y="2194560"/>
            <a:ext cx="73152" cy="749808"/>
          </a:xfrm>
          <a:prstGeom prst="rect">
            <a:avLst/>
          </a:prstGeom>
          <a:solidFill>
            <a:srgbClr val="007A6E"/>
          </a:solidFill>
          <a:ln cap="flat" cmpd="sng" w="12700">
            <a:solidFill>
              <a:srgbClr val="00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493776" y="2194560"/>
            <a:ext cx="8266176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566928" y="2331720"/>
            <a:ext cx="475488" cy="475488"/>
          </a:xfrm>
          <a:prstGeom prst="ellipse">
            <a:avLst/>
          </a:prstGeom>
          <a:solidFill>
            <a:srgbClr val="007A6E"/>
          </a:solidFill>
          <a:ln cap="flat" cmpd="sng" w="12700">
            <a:solidFill>
              <a:srgbClr val="00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566928" y="233172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1115568" y="235915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1645920" y="22860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Daily Practice (5–10 min)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645920" y="2596896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Beat the Tape, Choral Counting, Class Challenge, or Target Probes from workbooks.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347472" y="3090672"/>
            <a:ext cx="73152" cy="749808"/>
          </a:xfrm>
          <a:prstGeom prst="rect">
            <a:avLst/>
          </a:prstGeom>
          <a:solidFill>
            <a:srgbClr val="B87800"/>
          </a:solidFill>
          <a:ln cap="flat" cmpd="sng" w="12700">
            <a:solidFill>
              <a:srgbClr val="B8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493776" y="3090672"/>
            <a:ext cx="8266176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566928" y="3227832"/>
            <a:ext cx="475488" cy="475488"/>
          </a:xfrm>
          <a:prstGeom prst="ellipse">
            <a:avLst/>
          </a:prstGeom>
          <a:solidFill>
            <a:srgbClr val="B87800"/>
          </a:solidFill>
          <a:ln cap="flat" cmpd="sng" w="12700">
            <a:solidFill>
              <a:srgbClr val="B8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566928" y="322783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1115568" y="3255264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🎮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1645920" y="318211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Games &amp; Puzzles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1645920" y="3493008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For maintenance once skills are at/near mastery. Motivating, not effortful.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347472" y="3986784"/>
            <a:ext cx="73152" cy="749808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493776" y="3986784"/>
            <a:ext cx="8266176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12700">
            <a:solidFill>
              <a:srgbClr val="E4E6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566928" y="4123944"/>
            <a:ext cx="475488" cy="475488"/>
          </a:xfrm>
          <a:prstGeom prst="ellipse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566928" y="412394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1115568" y="4151376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1645920" y="407822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1117"/>
                </a:solidFill>
                <a:latin typeface="Calibri"/>
                <a:ea typeface="Calibri"/>
                <a:cs typeface="Calibri"/>
                <a:sym typeface="Calibri"/>
              </a:rPr>
              <a:t>Intervention for Struggling Students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1645920" y="4389120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1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A4150"/>
                </a:solidFill>
                <a:latin typeface="Calibri"/>
                <a:ea typeface="Calibri"/>
                <a:cs typeface="Calibri"/>
                <a:sym typeface="Calibri"/>
              </a:rPr>
              <a:t>CCC, flashcards with adults, TouchMath for early facts, Warp &amp; Weft for derived facts.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0" y="466344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F00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F4F00"/>
                </a:solidFill>
                <a:latin typeface="Calibri"/>
                <a:ea typeface="Calibri"/>
                <a:cs typeface="Calibri"/>
                <a:sym typeface="Calibri"/>
              </a:rPr>
              <a:t>"Every teacher. Every student. On Fire."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4F00"/>
          </a:solidFill>
          <a:ln cap="flat" cmpd="sng" w="12700">
            <a:solidFill>
              <a:srgbClr val="FF4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3886200" y="50292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Calibri"/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🔥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914400" y="1463040"/>
            <a:ext cx="73152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 Started Today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457200" y="2331720"/>
            <a:ext cx="4023360" cy="658368"/>
          </a:xfrm>
          <a:prstGeom prst="roundRect">
            <a:avLst>
              <a:gd fmla="val 11111" name="adj"/>
            </a:avLst>
          </a:prstGeom>
          <a:solidFill>
            <a:srgbClr val="1A1F2E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621792" y="23317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🖥️  Teacher Hub (Portal Home)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621792" y="266090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9000"/>
                </a:solidFill>
                <a:latin typeface="Calibri"/>
                <a:ea typeface="Calibri"/>
                <a:cs typeface="Calibri"/>
                <a:sym typeface="Calibri"/>
              </a:rPr>
              <a:t>baymonte.factsonfire.com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4800600" y="2331720"/>
            <a:ext cx="4023360" cy="658368"/>
          </a:xfrm>
          <a:prstGeom prst="roundRect">
            <a:avLst>
              <a:gd fmla="val 11111" name="adj"/>
            </a:avLst>
          </a:prstGeom>
          <a:solidFill>
            <a:srgbClr val="1A1F2E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4965192" y="23317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📓  Student Workbooks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4965192" y="266090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9000"/>
                </a:solidFill>
                <a:latin typeface="Calibri"/>
                <a:ea typeface="Calibri"/>
                <a:cs typeface="Calibri"/>
                <a:sym typeface="Calibri"/>
              </a:rPr>
              <a:t>→ Workbooks section on the portal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457200" y="3136392"/>
            <a:ext cx="4023360" cy="658368"/>
          </a:xfrm>
          <a:prstGeom prst="roundRect">
            <a:avLst>
              <a:gd fmla="val 11111" name="adj"/>
            </a:avLst>
          </a:prstGeom>
          <a:solidFill>
            <a:srgbClr val="1A1F2E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621792" y="313639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Practice Apps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621792" y="346557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9000"/>
                </a:solidFill>
                <a:latin typeface="Calibri"/>
                <a:ea typeface="Calibri"/>
                <a:cs typeface="Calibri"/>
                <a:sym typeface="Calibri"/>
              </a:rPr>
              <a:t>→ Whole-Class Practice Tools section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4800600" y="3136392"/>
            <a:ext cx="4023360" cy="658368"/>
          </a:xfrm>
          <a:prstGeom prst="roundRect">
            <a:avLst>
              <a:gd fmla="val 11111" name="adj"/>
            </a:avLst>
          </a:prstGeom>
          <a:solidFill>
            <a:srgbClr val="1A1F2E"/>
          </a:solidFill>
          <a:ln cap="flat" cmpd="sng" w="12700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4965192" y="313639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Scope &amp; Sequence Tracker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4965192" y="346557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9000"/>
                </a:solidFill>
                <a:latin typeface="Calibri"/>
                <a:ea typeface="Calibri"/>
                <a:cs typeface="Calibri"/>
                <a:sym typeface="Calibri"/>
              </a:rPr>
              <a:t>→ Teacher Resources section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Questions? See your instructional coach or contact the Facts on Fire team.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2026-03-25T15:41:15Z</dcterms:created>
  <dc:creator>Baymonte Christian School</dc:creator>
</cp:coreProperties>
</file>